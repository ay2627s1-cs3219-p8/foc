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6A"/>
                </a:solidFill>
                <a:latin typeface="Arial"/>
              </a:rPr>
              <a:t>ORDER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93776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3A4B"/>
                </a:solidFill>
                <a:latin typeface="Arial"/>
              </a:rPr>
              <a:t>It runs one errand from request to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78992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A71"/>
                </a:solidFill>
                <a:latin typeface="Arial"/>
              </a:rPr>
              <a:t>Users, stores, and credit balances stay in their own services. This service keeps the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53619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6A"/>
                </a:solidFill>
                <a:latin typeface="Arial"/>
              </a:rPr>
              <a:t>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828800"/>
            <a:ext cx="1938528" cy="713232"/>
          </a:xfrm>
          <a:prstGeom prst="roundRect">
            <a:avLst>
              <a:gd name="adj" fmla="val 18000"/>
            </a:avLst>
          </a:prstGeom>
          <a:solidFill>
            <a:srgbClr val="A34B24"/>
          </a:solidFill>
          <a:ln>
            <a:noFill/>
          </a:ln>
        </p:spPr>
        <p:txBody>
          <a:bodyPr rtlCol="0" anchor="ctr" wrap="none" lIns="73152" rIns="7315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Pending credit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32304" y="2093976"/>
            <a:ext cx="256032" cy="164592"/>
          </a:xfrm>
          <a:prstGeom prst="rightArrow">
            <a:avLst/>
          </a:prstGeom>
          <a:solidFill>
            <a:srgbClr val="A34B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1938528" cy="713232"/>
          </a:xfrm>
          <a:prstGeom prst="roundRect">
            <a:avLst>
              <a:gd name="adj" fmla="val 18000"/>
            </a:avLst>
          </a:prstGeom>
          <a:solidFill>
            <a:srgbClr val="1F6F6A"/>
          </a:solidFill>
          <a:ln>
            <a:noFill/>
          </a:ln>
        </p:spPr>
        <p:txBody>
          <a:bodyPr rtlCol="0" anchor="ctr" wrap="none" lIns="73152" rIns="7315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36592" y="2093976"/>
            <a:ext cx="256032" cy="164592"/>
          </a:xfrm>
          <a:prstGeom prst="rightArrow">
            <a:avLst/>
          </a:prstGeom>
          <a:solidFill>
            <a:srgbClr val="A34B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7488" y="1828800"/>
            <a:ext cx="1938528" cy="713232"/>
          </a:xfrm>
          <a:prstGeom prst="roundRect">
            <a:avLst>
              <a:gd name="adj" fmla="val 18000"/>
            </a:avLst>
          </a:prstGeom>
          <a:solidFill>
            <a:srgbClr val="1F6F6A"/>
          </a:solidFill>
          <a:ln>
            <a:noFill/>
          </a:ln>
        </p:spPr>
        <p:txBody>
          <a:bodyPr rtlCol="0" anchor="ctr" wrap="none" lIns="73152" rIns="7315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Accepted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40880" y="2093976"/>
            <a:ext cx="256032" cy="164592"/>
          </a:xfrm>
          <a:prstGeom prst="rightArrow">
            <a:avLst/>
          </a:prstGeom>
          <a:solidFill>
            <a:srgbClr val="A34B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51776" y="1828800"/>
            <a:ext cx="1938528" cy="713232"/>
          </a:xfrm>
          <a:prstGeom prst="roundRect">
            <a:avLst>
              <a:gd name="adj" fmla="val 18000"/>
            </a:avLst>
          </a:prstGeom>
          <a:solidFill>
            <a:srgbClr val="1F6F6A"/>
          </a:solidFill>
          <a:ln>
            <a:noFill/>
          </a:ln>
        </p:spPr>
        <p:txBody>
          <a:bodyPr rtlCol="0" anchor="ctr" wrap="none" lIns="73152" rIns="7315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Picked up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45168" y="2093976"/>
            <a:ext cx="256032" cy="164592"/>
          </a:xfrm>
          <a:prstGeom prst="rightArrow">
            <a:avLst/>
          </a:prstGeom>
          <a:solidFill>
            <a:srgbClr val="A34B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56064" y="1828800"/>
            <a:ext cx="1938528" cy="713232"/>
          </a:xfrm>
          <a:prstGeom prst="roundRect">
            <a:avLst>
              <a:gd name="adj" fmla="val 18000"/>
            </a:avLst>
          </a:prstGeom>
          <a:solidFill>
            <a:srgbClr val="1E4D3A"/>
          </a:solidFill>
          <a:ln>
            <a:noFill/>
          </a:ln>
        </p:spPr>
        <p:txBody>
          <a:bodyPr rtlCol="0" anchor="ctr" wrap="none" lIns="73152" rIns="7315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2761488"/>
            <a:ext cx="363931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2761488"/>
            <a:ext cx="73152" cy="841248"/>
          </a:xfrm>
          <a:prstGeom prst="rect">
            <a:avLst/>
          </a:prstGeom>
          <a:solidFill>
            <a:srgbClr val="A34B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852928"/>
            <a:ext cx="3273552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Arial"/>
              </a:rPr>
              <a:t>Rejected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108960"/>
            <a:ext cx="3273552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8"/>
                </a:solidFill>
                <a:latin typeface="Arial"/>
              </a:rPr>
              <a:t>The credit hold failed.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2816" y="2761488"/>
            <a:ext cx="363931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2816" y="2761488"/>
            <a:ext cx="73152" cy="841248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2852928"/>
            <a:ext cx="3273552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Arial"/>
              </a:rPr>
              <a:t>Cancelled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3108960"/>
            <a:ext cx="3273552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8"/>
                </a:solidFill>
                <a:latin typeface="Arial"/>
              </a:rPr>
              <a:t>Requester, before pickup.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8"/>
                </a:solidFill>
                <a:latin typeface="Arial"/>
              </a:rPr>
              <a:t>An admin, until it is closed.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761488"/>
            <a:ext cx="363931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761488"/>
            <a:ext cx="73152" cy="841248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2852928"/>
            <a:ext cx="3273552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Arial"/>
              </a:rPr>
              <a:t>Expired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3108960"/>
            <a:ext cx="3273552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8"/>
                </a:solidFill>
                <a:latin typeface="Arial"/>
              </a:rPr>
              <a:t>Still pending or open after one hour.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38039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6A"/>
                </a:solidFill>
                <a:latin typeface="Arial"/>
              </a:rPr>
              <a:t>THREE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4096512"/>
            <a:ext cx="3675887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" y="4096512"/>
            <a:ext cx="3675887" cy="73152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279392"/>
            <a:ext cx="3273551" cy="15727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B3A4B"/>
                </a:solidFill>
                <a:latin typeface="Arial"/>
              </a:rPr>
              <a:t>Stored in Postgres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8"/>
                </a:solidFill>
                <a:latin typeface="Arial"/>
              </a:rPr>
              <a:t>The row holds the status, both user ids, the store id, the drop-off, and the credit amount. Names and store details are not copied.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1104" y="4096512"/>
            <a:ext cx="3675887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1104" y="4096512"/>
            <a:ext cx="3675887" cy="73152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2272" y="4279392"/>
            <a:ext cx="3273551" cy="15727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B3A4B"/>
                </a:solidFill>
                <a:latin typeface="Arial"/>
              </a:rPr>
              <a:t>One accept wins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8"/>
                </a:solidFill>
                <a:latin typeface="Arial"/>
              </a:rPr>
              <a:t>Each change locks that order row. The first courier to commit keeps it. The next request is rejected.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3296" y="4096512"/>
            <a:ext cx="3675887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83296" y="4096512"/>
            <a:ext cx="3675887" cy="73152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4279392"/>
            <a:ext cx="3273551" cy="15727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B3A4B"/>
                </a:solidFill>
                <a:latin typeface="Arial"/>
              </a:rPr>
              <a:t>Save, then publish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8"/>
                </a:solidFill>
                <a:latin typeface="Arial"/>
              </a:rPr>
              <a:t>The new status and its event commit together. A worker publishes the event afterwards, so a broker outage still leaves a successful request.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652881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A71"/>
                </a:solidFill>
                <a:latin typeface="Arial"/>
              </a:rPr>
              <a:t>CS3219  ·  Friend on Campus  ·  Milestone D3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528816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A71"/>
                </a:solidFill>
                <a:latin typeface="Arial"/>
              </a:rPr>
              <a:t>1  / 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6A"/>
                </a:solidFill>
                <a:latin typeface="Arial"/>
              </a:rPr>
              <a:t>ORDER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3A4B"/>
                </a:solidFill>
                <a:latin typeface="Arial"/>
              </a:rPr>
              <a:t>How one errand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87552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A71"/>
                </a:solidFill>
                <a:latin typeface="Arial"/>
              </a:rPr>
              <a:t>Each step checks the caller, then writes one status. Credit hears about it from the event.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44752"/>
            <a:ext cx="690372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" y="1737360"/>
            <a:ext cx="438912" cy="438912"/>
          </a:xfrm>
          <a:prstGeom prst="ellipse">
            <a:avLst/>
          </a:prstGeom>
          <a:solidFill>
            <a:srgbClr val="1F6F6A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1591056"/>
            <a:ext cx="58521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3A4B"/>
                </a:solidFill>
                <a:latin typeface="Arial"/>
              </a:rPr>
              <a:t>Create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8"/>
                </a:solidFill>
                <a:latin typeface="Arial"/>
              </a:rPr>
              <a:t>User Service checks the session. Supplier Service checks the store. The order is saved as pending credit.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578608"/>
            <a:ext cx="690372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" y="2871216"/>
            <a:ext cx="438912" cy="438912"/>
          </a:xfrm>
          <a:prstGeom prst="ellipse">
            <a:avLst/>
          </a:prstGeom>
          <a:solidFill>
            <a:srgbClr val="1F6F6A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2724912"/>
            <a:ext cx="58521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3A4B"/>
                </a:solidFill>
                <a:latin typeface="Arial"/>
              </a:rPr>
              <a:t>Hold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8"/>
                </a:solidFill>
                <a:latin typeface="Arial"/>
              </a:rPr>
              <a:t>Credit reserves the amount. The order opens, or it is rejected if the reserve fails.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712464"/>
            <a:ext cx="690372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" y="4005072"/>
            <a:ext cx="438912" cy="438912"/>
          </a:xfrm>
          <a:prstGeom prst="ellipse">
            <a:avLst/>
          </a:prstGeom>
          <a:solidFill>
            <a:srgbClr val="1F6F6A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858768"/>
            <a:ext cx="58521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3A4B"/>
                </a:solidFill>
                <a:latin typeface="Arial"/>
              </a:rPr>
              <a:t>Deliver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8"/>
                </a:solidFill>
                <a:latin typeface="Arial"/>
              </a:rPr>
              <a:t>Another student accepts and picks it up. The requester confirms completion. A second accept loses.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4846320"/>
            <a:ext cx="690372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1792" y="5138928"/>
            <a:ext cx="438912" cy="438912"/>
          </a:xfrm>
          <a:prstGeom prst="ellipse">
            <a:avLst/>
          </a:prstGeom>
          <a:solidFill>
            <a:srgbClr val="1F6F6A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4992624"/>
            <a:ext cx="58521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3A4B"/>
                </a:solidFill>
                <a:latin typeface="Arial"/>
              </a:rPr>
              <a:t>Settle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8"/>
                </a:solidFill>
                <a:latin typeface="Arial"/>
              </a:rPr>
              <a:t>Completion pays the courier. Cancel or expiry returns the credits.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34656" y="1444752"/>
            <a:ext cx="4206240" cy="4425696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1645920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Who is allowed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2066544"/>
            <a:ext cx="3694175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E0D8"/>
                </a:solidFill>
                <a:latin typeface="Arial"/>
              </a:rPr>
              <a:t>Requester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2322576"/>
            <a:ext cx="3694175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Create, change the drop-off before pickup, confirm completion, and cancel before pickup.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3145536"/>
            <a:ext cx="3694175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E0D8"/>
                </a:solidFill>
                <a:latin typeface="Arial"/>
              </a:rPr>
              <a:t>Courier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01568"/>
            <a:ext cx="3694175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Accept an open errand and mark it picked up. Their own request is hidden and refused.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4224528"/>
            <a:ext cx="3694175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E0D8"/>
                </a:solidFill>
                <a:latin typeface="Arial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4480560"/>
            <a:ext cx="3694175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Open any order by id, and cancel it until it is closed. Cancel after pickup also tells Credit to compensate the courier.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652881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A71"/>
                </a:solidFill>
                <a:latin typeface="Arial"/>
              </a:rPr>
              <a:t>CS3219  ·  Friend on Campus  ·  Milestone D3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28816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A71"/>
                </a:solidFill>
                <a:latin typeface="Arial"/>
              </a:rPr>
              <a:t>2  /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Service</dc:title>
  <dc:subject>CS3219 Milestone D3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Order Service</cp:category>
</cp:coreProperties>
</file>