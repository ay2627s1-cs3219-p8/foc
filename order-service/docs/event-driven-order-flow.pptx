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73152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D6F6A"/>
                </a:solidFill>
                <a:latin typeface="Helvetica Neue"/>
              </a:rPr>
              <a:t>Event-Driven Order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83480" y="42976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2B2F33"/>
                </a:solidFill>
                <a:latin typeface="Helvetica Neue"/>
              </a:rPr>
              <a:t>PROPOSED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78"/>
                </a:solidFill>
                <a:latin typeface="Helvetica Neue"/>
              </a:rPr>
              <a:t>Kafka topics replace RabbitMQ queues. Order Service writes to its own log and no longer knows who reads it.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1018520" y="2167128"/>
            <a:ext cx="0" cy="667511"/>
          </a:xfrm>
          <a:prstGeom prst="line">
            <a:avLst/>
          </a:prstGeom>
          <a:ln w="28575">
            <a:solidFill>
              <a:srgbClr val="1D6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932688" y="2167128"/>
            <a:ext cx="10085832" cy="0"/>
          </a:xfrm>
          <a:prstGeom prst="line">
            <a:avLst/>
          </a:prstGeom>
          <a:ln w="28575">
            <a:solidFill>
              <a:srgbClr val="1D6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32688" y="2167128"/>
            <a:ext cx="0" cy="1901952"/>
          </a:xfrm>
          <a:prstGeom prst="line">
            <a:avLst/>
          </a:prstGeom>
          <a:ln w="28575">
            <a:solidFill>
              <a:srgbClr val="1D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0640" y="1920240"/>
            <a:ext cx="274320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1D6F6A"/>
                </a:solidFill>
                <a:latin typeface="Helvetica Neue"/>
              </a:rPr>
              <a:t>live status updates (WebSocket / push)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108960"/>
            <a:ext cx="5074920" cy="2103120"/>
          </a:xfrm>
          <a:prstGeom prst="roundRect">
            <a:avLst>
              <a:gd name="adj" fmla="val 6000"/>
            </a:avLst>
          </a:prstGeom>
          <a:solidFill>
            <a:srgbClr val="F6F7F8"/>
          </a:solidFill>
          <a:ln w="12700">
            <a:solidFill>
              <a:srgbClr val="B8B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320040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D6F6A"/>
                </a:solidFill>
                <a:latin typeface="Helvetica Neue"/>
              </a:rPr>
              <a:t>Order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069080"/>
            <a:ext cx="1143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B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B2F33"/>
                </a:solidFill>
                <a:latin typeface="Helvetica Neue"/>
              </a:rPr>
              <a:t>Frontend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08760" y="4407408"/>
            <a:ext cx="548640" cy="0"/>
          </a:xfrm>
          <a:prstGeom prst="line">
            <a:avLst/>
          </a:prstGeom>
          <a:ln w="28575">
            <a:solidFill>
              <a:srgbClr val="1D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36192" y="4114800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1D6F6A"/>
                </a:solidFill>
                <a:latin typeface="Helvetica Neue"/>
              </a:rPr>
              <a:t>HTTP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4069080"/>
            <a:ext cx="14173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B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B2F33"/>
                </a:solidFill>
                <a:latin typeface="Helvetica Neue"/>
              </a:rPr>
              <a:t>Order API</a:t>
            </a:r>
          </a:p>
        </p:txBody>
      </p:sp>
      <p:sp>
        <p:nvSpPr>
          <p:cNvPr id="15" name="Can 14"/>
          <p:cNvSpPr/>
          <p:nvPr/>
        </p:nvSpPr>
        <p:spPr>
          <a:xfrm>
            <a:off x="3840480" y="3794760"/>
            <a:ext cx="1417320" cy="1234440"/>
          </a:xfrm>
          <a:prstGeom prst="can">
            <a:avLst/>
          </a:prstGeom>
          <a:solidFill>
            <a:srgbClr val="FFFFFF"/>
          </a:solidFill>
          <a:ln w="12700">
            <a:solidFill>
              <a:srgbClr val="B8B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2B2F33"/>
                </a:solidFill>
                <a:latin typeface="Helvetica Neue"/>
              </a:rPr>
              <a:t>Order DB</a:t>
            </a:r>
          </a:p>
          <a:p>
            <a:pPr algn="ctr"/>
            <a:r>
              <a:rPr sz="1200" b="0">
                <a:solidFill>
                  <a:srgbClr val="2B2F33"/>
                </a:solidFill>
                <a:latin typeface="Helvetica Neue"/>
              </a:rPr>
              <a:t>+ Outbox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74720" y="4407408"/>
            <a:ext cx="365760" cy="0"/>
          </a:xfrm>
          <a:prstGeom prst="line">
            <a:avLst/>
          </a:prstGeom>
          <a:ln w="28575">
            <a:solidFill>
              <a:srgbClr val="1D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623560" y="3520439"/>
            <a:ext cx="10515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B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B2F33"/>
                </a:solidFill>
                <a:latin typeface="Helvetica Neue"/>
              </a:rPr>
              <a:t>Worker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57800" y="4407408"/>
            <a:ext cx="365760" cy="0"/>
          </a:xfrm>
          <a:prstGeom prst="line">
            <a:avLst/>
          </a:prstGeom>
          <a:ln w="28575">
            <a:solidFill>
              <a:srgbClr val="1D6F6A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783080" y="246888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B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2B2F33"/>
                </a:solidFill>
                <a:latin typeface="Helvetica Neue"/>
              </a:rPr>
              <a:t>User Service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24688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B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2B2F33"/>
                </a:solidFill>
                <a:latin typeface="Helvetica Neue"/>
              </a:rPr>
              <a:t>Supplier Service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50592" y="2926080"/>
            <a:ext cx="0" cy="1143000"/>
          </a:xfrm>
          <a:prstGeom prst="line">
            <a:avLst/>
          </a:prstGeom>
          <a:ln w="15875">
            <a:solidFill>
              <a:srgbClr val="6B727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154680" y="2926080"/>
            <a:ext cx="868680" cy="1143000"/>
          </a:xfrm>
          <a:prstGeom prst="line">
            <a:avLst/>
          </a:prstGeom>
          <a:ln w="15875">
            <a:solidFill>
              <a:srgbClr val="6B727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42032" y="2999232"/>
            <a:ext cx="109728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78"/>
                </a:solidFill>
                <a:latin typeface="Helvetica Neue"/>
              </a:rPr>
              <a:t>validate (sync)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2468880"/>
            <a:ext cx="2514600" cy="2651760"/>
          </a:xfrm>
          <a:prstGeom prst="roundRect">
            <a:avLst>
              <a:gd name="adj" fmla="val 6000"/>
            </a:avLst>
          </a:prstGeom>
          <a:solidFill>
            <a:srgbClr val="177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2587752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Helvetica Neue"/>
              </a:rPr>
              <a:t>Event Broker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898648"/>
            <a:ext cx="2514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A8DCD6"/>
                </a:solidFill>
                <a:latin typeface="Helvetica Neue"/>
              </a:rPr>
              <a:t>Kafka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9208" y="3593591"/>
            <a:ext cx="1234440" cy="2286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nlo"/>
              </a:rPr>
              <a:t>order.events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13648" y="3611879"/>
            <a:ext cx="192024" cy="182880"/>
          </a:xfrm>
          <a:prstGeom prst="roundRect">
            <a:avLst>
              <a:gd name="adj" fmla="val 15000"/>
            </a:avLst>
          </a:prstGeom>
          <a:solidFill>
            <a:srgbClr val="5FA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842248" y="3611879"/>
            <a:ext cx="192024" cy="182880"/>
          </a:xfrm>
          <a:prstGeom prst="roundRect">
            <a:avLst>
              <a:gd name="adj" fmla="val 15000"/>
            </a:avLst>
          </a:prstGeom>
          <a:solidFill>
            <a:srgbClr val="5FA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70848" y="3611879"/>
            <a:ext cx="192024" cy="182880"/>
          </a:xfrm>
          <a:prstGeom prst="roundRect">
            <a:avLst>
              <a:gd name="adj" fmla="val 15000"/>
            </a:avLst>
          </a:prstGeom>
          <a:solidFill>
            <a:srgbClr val="5FA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99448" y="3611879"/>
            <a:ext cx="192024" cy="182880"/>
          </a:xfrm>
          <a:prstGeom prst="roundRect">
            <a:avLst>
              <a:gd name="adj" fmla="val 15000"/>
            </a:avLst>
          </a:prstGeom>
          <a:solidFill>
            <a:srgbClr val="5FA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28048" y="3611879"/>
            <a:ext cx="192024" cy="18288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A8DC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208" y="4279392"/>
            <a:ext cx="1234440" cy="2286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nlo"/>
              </a:rPr>
              <a:t>credit.events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13648" y="4297680"/>
            <a:ext cx="192024" cy="182880"/>
          </a:xfrm>
          <a:prstGeom prst="roundRect">
            <a:avLst>
              <a:gd name="adj" fmla="val 15000"/>
            </a:avLst>
          </a:prstGeom>
          <a:solidFill>
            <a:srgbClr val="5FA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42248" y="4297680"/>
            <a:ext cx="192024" cy="182880"/>
          </a:xfrm>
          <a:prstGeom prst="roundRect">
            <a:avLst>
              <a:gd name="adj" fmla="val 15000"/>
            </a:avLst>
          </a:prstGeom>
          <a:solidFill>
            <a:srgbClr val="5FA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70848" y="4297680"/>
            <a:ext cx="192024" cy="182880"/>
          </a:xfrm>
          <a:prstGeom prst="roundRect">
            <a:avLst>
              <a:gd name="adj" fmla="val 15000"/>
            </a:avLst>
          </a:prstGeom>
          <a:solidFill>
            <a:srgbClr val="5FA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99448" y="4297680"/>
            <a:ext cx="192024" cy="182880"/>
          </a:xfrm>
          <a:prstGeom prst="roundRect">
            <a:avLst>
              <a:gd name="adj" fmla="val 15000"/>
            </a:avLst>
          </a:prstGeom>
          <a:solidFill>
            <a:srgbClr val="5FA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528048" y="4297680"/>
            <a:ext cx="192024" cy="18288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A8DC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6675120" y="3703320"/>
            <a:ext cx="594360" cy="0"/>
          </a:xfrm>
          <a:prstGeom prst="line">
            <a:avLst/>
          </a:prstGeom>
          <a:ln w="28575">
            <a:solidFill>
              <a:srgbClr val="1D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656832" y="342900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1D6F6A"/>
                </a:solidFill>
                <a:latin typeface="Helvetica Neue"/>
              </a:rPr>
              <a:t>publish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675120" y="4389120"/>
            <a:ext cx="594360" cy="0"/>
          </a:xfrm>
          <a:prstGeom prst="line">
            <a:avLst/>
          </a:prstGeom>
          <a:ln w="28575">
            <a:solidFill>
              <a:srgbClr val="1D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656832" y="4462272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1D6F6A"/>
                </a:solidFill>
                <a:latin typeface="Helvetica Neue"/>
              </a:rPr>
              <a:t>consume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41280" y="2834639"/>
            <a:ext cx="155448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B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2B2F33"/>
                </a:solidFill>
                <a:latin typeface="Helvetica Neue"/>
              </a:rPr>
              <a:t>Notification</a:t>
            </a:r>
          </a:p>
          <a:p>
            <a:pPr algn="ctr"/>
            <a:r>
              <a:rPr sz="1200" b="0">
                <a:solidFill>
                  <a:srgbClr val="2B2F33"/>
                </a:solidFill>
                <a:latin typeface="Helvetica Neue"/>
              </a:rPr>
              <a:t>Service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9784080" y="3154680"/>
            <a:ext cx="457200" cy="228600"/>
          </a:xfrm>
          <a:prstGeom prst="line">
            <a:avLst/>
          </a:prstGeom>
          <a:ln w="28575">
            <a:solidFill>
              <a:srgbClr val="1D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0241280" y="3566160"/>
            <a:ext cx="15544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B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2B2F33"/>
                </a:solidFill>
                <a:latin typeface="Helvetica Neue"/>
              </a:rPr>
              <a:t>Credit</a:t>
            </a:r>
          </a:p>
          <a:p>
            <a:pPr algn="ctr"/>
            <a:r>
              <a:rPr sz="1300" b="0">
                <a:solidFill>
                  <a:srgbClr val="2B2F33"/>
                </a:solidFill>
                <a:latin typeface="Helvetica Neue"/>
              </a:rPr>
              <a:t>Service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784080" y="3703320"/>
            <a:ext cx="457200" cy="0"/>
          </a:xfrm>
          <a:prstGeom prst="line">
            <a:avLst/>
          </a:prstGeom>
          <a:ln w="28575">
            <a:solidFill>
              <a:srgbClr val="1D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784080" y="4389120"/>
            <a:ext cx="457200" cy="0"/>
          </a:xfrm>
          <a:prstGeom prst="line">
            <a:avLst/>
          </a:prstGeom>
          <a:ln w="28575">
            <a:solidFill>
              <a:srgbClr val="1D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241280" y="4636008"/>
            <a:ext cx="1554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1D6F6A"/>
                </a:solidFill>
                <a:latin typeface="Helvetica Neue"/>
              </a:rPr>
              <a:t>reserved / failed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41280" y="4937760"/>
            <a:ext cx="155448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BD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0">
                <a:solidFill>
                  <a:srgbClr val="6B7278"/>
                </a:solidFill>
                <a:latin typeface="Helvetica Neue"/>
              </a:rPr>
              <a:t>Rating · Analytics</a:t>
            </a:r>
          </a:p>
          <a:p>
            <a:pPr algn="ctr"/>
            <a:r>
              <a:rPr sz="1100" b="0">
                <a:solidFill>
                  <a:srgbClr val="6B7278"/>
                </a:solidFill>
                <a:latin typeface="Helvetica Neue"/>
              </a:rPr>
              <a:t>(future)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784080" y="4937760"/>
            <a:ext cx="457200" cy="228600"/>
          </a:xfrm>
          <a:prstGeom prst="line">
            <a:avLst/>
          </a:prstGeom>
          <a:ln w="28575">
            <a:solidFill>
              <a:srgbClr val="1D6F6A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11480" y="5715000"/>
            <a:ext cx="457200" cy="0"/>
          </a:xfrm>
          <a:prstGeom prst="line">
            <a:avLst/>
          </a:prstGeom>
          <a:ln w="28575">
            <a:solidFill>
              <a:srgbClr val="1D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32688" y="5614416"/>
            <a:ext cx="128016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78"/>
                </a:solidFill>
                <a:latin typeface="Helvetica Neue"/>
              </a:rPr>
              <a:t>event or push (async)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377440" y="5715000"/>
            <a:ext cx="457200" cy="0"/>
          </a:xfrm>
          <a:prstGeom prst="line">
            <a:avLst/>
          </a:prstGeom>
          <a:ln w="15875">
            <a:solidFill>
              <a:srgbClr val="6B72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898648" y="5614416"/>
            <a:ext cx="128016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78"/>
                </a:solidFill>
                <a:latin typeface="Helvetica Neue"/>
              </a:rPr>
              <a:t>HTTP (sync)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73152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D6F6A"/>
                </a:solidFill>
                <a:latin typeface="Helvetica Neue"/>
              </a:rPr>
              <a:t>Order body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347472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B2F33"/>
                </a:solidFill>
                <a:latin typeface="Helvetica Neue"/>
              </a:rPr>
              <a:t>1. Request: POST /orders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1051560"/>
            <a:ext cx="34290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B2F33"/>
                </a:solidFill>
                <a:latin typeface="Helvetica Neue"/>
              </a:rPr>
              <a:t>2. Stored: orders row (Order DB)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051560"/>
            <a:ext cx="393192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B2F33"/>
                </a:solidFill>
                <a:latin typeface="Helvetica Neue"/>
              </a:rPr>
              <a:t>3. Event: order.created on order.events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3474720" cy="4937760"/>
          </a:xfrm>
          <a:prstGeom prst="roundRect">
            <a:avLst>
              <a:gd name="adj" fmla="val 4000"/>
            </a:avLst>
          </a:prstGeom>
          <a:solidFill>
            <a:srgbClr val="F5F6F7"/>
          </a:solidFill>
          <a:ln w="12700">
            <a:solidFill>
              <a:srgbClr val="D5D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200400" cy="4572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D6F6A"/>
                </a:solidFill>
                <a:latin typeface="Menlo"/>
              </a:rPr>
              <a:t>Authorization: Bearer ...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D6F6A"/>
                </a:solidFill>
                <a:latin typeface="Menlo"/>
              </a:rPr>
              <a:t>Idempotency-Key: 7f3c-...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2B2F33"/>
                </a:solidFill>
                <a:latin typeface="Menlo"/>
              </a:rPr>
              <a:t> 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2B2F33"/>
                </a:solidFill>
                <a:latin typeface="Menlo"/>
              </a:rPr>
              <a:t>{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2B2F33"/>
                </a:solidFill>
                <a:latin typeface="Menlo"/>
              </a:rPr>
              <a:t>  "pickup_supplier_id": </a:t>
            </a:r>
            <a:r>
              <a:rPr sz="1100" b="0">
                <a:solidFill>
                  <a:srgbClr val="B5452F"/>
                </a:solidFill>
                <a:latin typeface="Menlo"/>
              </a:rPr>
              <a:t>"b1e2-..."</a:t>
            </a:r>
            <a:r>
              <a:rPr sz="1100" b="0">
                <a:solidFill>
                  <a:srgbClr val="2B2F33"/>
                </a:solidFill>
                <a:latin typeface="Menlo"/>
              </a:rPr>
              <a:t>,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2B2F33"/>
                </a:solidFill>
                <a:latin typeface="Menlo"/>
              </a:rPr>
              <a:t>  "item_description":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B5452F"/>
                </a:solidFill>
                <a:latin typeface="Menlo"/>
              </a:rPr>
              <a:t>    "1 iced latte"</a:t>
            </a:r>
            <a:r>
              <a:rPr sz="1100" b="0">
                <a:solidFill>
                  <a:srgbClr val="2B2F33"/>
                </a:solidFill>
                <a:latin typeface="Menlo"/>
              </a:rPr>
              <a:t>,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2B2F33"/>
                </a:solidFill>
                <a:latin typeface="Menlo"/>
              </a:rPr>
              <a:t>  "credit_amount": </a:t>
            </a:r>
            <a:r>
              <a:rPr sz="1100" b="0">
                <a:solidFill>
                  <a:srgbClr val="2C6FB7"/>
                </a:solidFill>
                <a:latin typeface="Menlo"/>
              </a:rPr>
              <a:t>8</a:t>
            </a:r>
            <a:r>
              <a:rPr sz="1100" b="0">
                <a:solidFill>
                  <a:srgbClr val="2B2F33"/>
                </a:solidFill>
                <a:latin typeface="Menlo"/>
              </a:rPr>
              <a:t>,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2B2F33"/>
                </a:solidFill>
                <a:latin typeface="Menlo"/>
              </a:rPr>
              <a:t>  "delivery": {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2B2F33"/>
                </a:solidFill>
                <a:latin typeface="Menlo"/>
              </a:rPr>
              <a:t>    "label": </a:t>
            </a:r>
            <a:r>
              <a:rPr sz="1100" b="0">
                <a:solidFill>
                  <a:srgbClr val="B5452F"/>
                </a:solidFill>
                <a:latin typeface="Menlo"/>
              </a:rPr>
              <a:t>"COM1 Level 2"</a:t>
            </a:r>
            <a:r>
              <a:rPr sz="1100" b="0">
                <a:solidFill>
                  <a:srgbClr val="2B2F33"/>
                </a:solidFill>
                <a:latin typeface="Menlo"/>
              </a:rPr>
              <a:t>,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2B2F33"/>
                </a:solidFill>
                <a:latin typeface="Menlo"/>
              </a:rPr>
              <a:t>    "latitude": </a:t>
            </a:r>
            <a:r>
              <a:rPr sz="1100" b="0">
                <a:solidFill>
                  <a:srgbClr val="2C6FB7"/>
                </a:solidFill>
                <a:latin typeface="Menlo"/>
              </a:rPr>
              <a:t>1.2949</a:t>
            </a:r>
            <a:r>
              <a:rPr sz="1100" b="0">
                <a:solidFill>
                  <a:srgbClr val="2B2F33"/>
                </a:solidFill>
                <a:latin typeface="Menlo"/>
              </a:rPr>
              <a:t>,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2B2F33"/>
                </a:solidFill>
                <a:latin typeface="Menlo"/>
              </a:rPr>
              <a:t>    "longitude": </a:t>
            </a:r>
            <a:r>
              <a:rPr sz="1100" b="0">
                <a:solidFill>
                  <a:srgbClr val="2C6FB7"/>
                </a:solidFill>
                <a:latin typeface="Menlo"/>
              </a:rPr>
              <a:t>103.7737</a:t>
            </a:r>
            <a:r>
              <a:rPr sz="1100" b="0">
                <a:solidFill>
                  <a:srgbClr val="2B2F33"/>
                </a:solidFill>
                <a:latin typeface="Menlo"/>
              </a:rPr>
              <a:t>,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2B2F33"/>
                </a:solidFill>
                <a:latin typeface="Menlo"/>
              </a:rPr>
              <a:t>    "details":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B5452F"/>
                </a:solidFill>
                <a:latin typeface="Menlo"/>
              </a:rPr>
              <a:t>      "Outside room 02-12"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2B2F33"/>
                </a:solidFill>
                <a:latin typeface="Menlo"/>
              </a:rPr>
              <a:t>  }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2B2F33"/>
                </a:solidFill>
                <a:latin typeface="Menlo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463040"/>
            <a:ext cx="342900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D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645920"/>
            <a:ext cx="1783080" cy="4663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id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requester_id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courier_id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pickup_supplier_id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item_description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credit_amount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delivery_label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delivery_lat/lng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delivery_details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sz="950" b="1">
                <a:solidFill>
                  <a:srgbClr val="1D6F6A"/>
                </a:solidFill>
                <a:latin typeface="Menlo"/>
              </a:rPr>
              <a:t>status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rejection_reason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idempotency_key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request_hash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correlation_id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created_at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expires_at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updated_at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accepted_at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picked_up_at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completed_at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cancelled_at/_by, expired_at  </a:t>
            </a:r>
            <a:r>
              <a:rPr sz="950" b="0">
                <a:solidFill>
                  <a:srgbClr val="A0A4A8"/>
                </a:solidFill>
                <a:latin typeface="Menlo"/>
              </a:rPr>
              <a:t>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645920"/>
            <a:ext cx="1463040" cy="4663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B5452F"/>
                </a:solidFill>
                <a:latin typeface="Menlo"/>
              </a:rPr>
              <a:t>a7b3-...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B5452F"/>
                </a:solidFill>
                <a:latin typeface="Menlo"/>
              </a:rPr>
              <a:t>alice-...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A0A4A8"/>
                </a:solidFill>
                <a:latin typeface="Menlo"/>
              </a:rPr>
              <a:t>null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B5452F"/>
                </a:solidFill>
                <a:latin typeface="Menlo"/>
              </a:rPr>
              <a:t>b1e2-...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B5452F"/>
                </a:solidFill>
                <a:latin typeface="Menlo"/>
              </a:rPr>
              <a:t>1 iced latte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C6FB7"/>
                </a:solidFill>
                <a:latin typeface="Menlo"/>
              </a:rPr>
              <a:t>8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B5452F"/>
                </a:solidFill>
                <a:latin typeface="Menlo"/>
              </a:rPr>
              <a:t>COM1 Level 2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B5452F"/>
                </a:solidFill>
                <a:latin typeface="Menlo"/>
              </a:rPr>
              <a:t>1.2949, 103.77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B5452F"/>
                </a:solidFill>
                <a:latin typeface="Menlo"/>
              </a:rPr>
              <a:t>Outside 02-12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sz="950" b="1">
                <a:solidFill>
                  <a:srgbClr val="2B2F33"/>
                </a:solidFill>
                <a:latin typeface="Menlo"/>
              </a:rPr>
              <a:t>PENDING_CREDIT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A0A4A8"/>
                </a:solidFill>
                <a:latin typeface="Menlo"/>
              </a:rPr>
              <a:t>null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B5452F"/>
                </a:solidFill>
                <a:latin typeface="Menlo"/>
              </a:rPr>
              <a:t>7f3c-...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B5452F"/>
                </a:solidFill>
                <a:latin typeface="Menlo"/>
              </a:rPr>
              <a:t>9d41...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B5452F"/>
                </a:solidFill>
                <a:latin typeface="Menlo"/>
              </a:rPr>
              <a:t>c4d2-...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B5452F"/>
                </a:solidFill>
                <a:latin typeface="Menlo"/>
              </a:rPr>
              <a:t>12:00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B5452F"/>
                </a:solidFill>
                <a:latin typeface="Menlo"/>
              </a:rPr>
              <a:t>13:00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B5452F"/>
                </a:solidFill>
                <a:latin typeface="Menlo"/>
              </a:rPr>
              <a:t>12:00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A0A4A8"/>
                </a:solidFill>
                <a:latin typeface="Menlo"/>
              </a:rPr>
              <a:t>null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A0A4A8"/>
                </a:solidFill>
                <a:latin typeface="Menlo"/>
              </a:rPr>
              <a:t>null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A0A4A8"/>
                </a:solidFill>
                <a:latin typeface="Menlo"/>
              </a:rPr>
              <a:t>null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2B2F33"/>
                </a:solidFill>
                <a:latin typeface="Menlo"/>
              </a:rPr>
              <a:t>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463040"/>
            <a:ext cx="3931920" cy="4937760"/>
          </a:xfrm>
          <a:prstGeom prst="roundRect">
            <a:avLst>
              <a:gd name="adj" fmla="val 4000"/>
            </a:avLst>
          </a:prstGeom>
          <a:solidFill>
            <a:srgbClr val="177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657600" cy="4617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A8DCD6"/>
                </a:solidFill>
                <a:latin typeface="Menlo"/>
              </a:rPr>
              <a:t>topic    </a:t>
            </a:r>
            <a:r>
              <a:rPr sz="1000" b="1">
                <a:solidFill>
                  <a:srgbClr val="FFFFFF"/>
                </a:solidFill>
                <a:latin typeface="Menlo"/>
              </a:rPr>
              <a:t>order.events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A8DCD6"/>
                </a:solidFill>
                <a:latin typeface="Menlo"/>
              </a:rPr>
              <a:t>key      </a:t>
            </a:r>
            <a:r>
              <a:rPr sz="1000" b="0">
                <a:solidFill>
                  <a:srgbClr val="F6E09E"/>
                </a:solidFill>
                <a:latin typeface="Menlo"/>
              </a:rPr>
              <a:t>"a7b3-..."</a:t>
            </a:r>
            <a:r>
              <a:rPr sz="1000" b="0">
                <a:solidFill>
                  <a:srgbClr val="A8DCD6"/>
                </a:solidFill>
                <a:latin typeface="Menlo"/>
              </a:rPr>
              <a:t>  (order_id)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A8DCD6"/>
                </a:solidFill>
                <a:latin typeface="Menlo"/>
              </a:rPr>
              <a:t>headers  </a:t>
            </a:r>
            <a:r>
              <a:rPr sz="1000" b="0">
                <a:solidFill>
                  <a:srgbClr val="FFFFFF"/>
                </a:solidFill>
                <a:latin typeface="Menlo"/>
              </a:rPr>
              <a:t>event_type=order.created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A8DCD6"/>
                </a:solidFill>
                <a:latin typeface="Menlo"/>
              </a:rPr>
              <a:t>value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FFFF"/>
                </a:solidFill>
                <a:latin typeface="Menlo"/>
              </a:rPr>
              <a:t>{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FFFF"/>
                </a:solidFill>
                <a:latin typeface="Menlo"/>
              </a:rPr>
              <a:t>  "event_id": </a:t>
            </a:r>
            <a:r>
              <a:rPr sz="1000" b="0">
                <a:solidFill>
                  <a:srgbClr val="F6E09E"/>
                </a:solidFill>
                <a:latin typeface="Menlo"/>
              </a:rPr>
              <a:t>"e9a1-..."</a:t>
            </a:r>
            <a:r>
              <a:rPr sz="1000" b="0">
                <a:solidFill>
                  <a:srgbClr val="FFFFFF"/>
                </a:solidFill>
                <a:latin typeface="Menlo"/>
              </a:rPr>
              <a:t>,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FFFF"/>
                </a:solidFill>
                <a:latin typeface="Menlo"/>
              </a:rPr>
              <a:t>  "event_type": </a:t>
            </a:r>
            <a:r>
              <a:rPr sz="1000" b="0">
                <a:solidFill>
                  <a:srgbClr val="F6E09E"/>
                </a:solidFill>
                <a:latin typeface="Menlo"/>
              </a:rPr>
              <a:t>"order.created"</a:t>
            </a:r>
            <a:r>
              <a:rPr sz="1000" b="0">
                <a:solidFill>
                  <a:srgbClr val="FFFFFF"/>
                </a:solidFill>
                <a:latin typeface="Menlo"/>
              </a:rPr>
              <a:t>,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FFFF"/>
                </a:solidFill>
                <a:latin typeface="Menlo"/>
              </a:rPr>
              <a:t>  "schema_version": </a:t>
            </a:r>
            <a:r>
              <a:rPr sz="1000" b="0">
                <a:solidFill>
                  <a:srgbClr val="A9DDF7"/>
                </a:solidFill>
                <a:latin typeface="Menlo"/>
              </a:rPr>
              <a:t>1</a:t>
            </a:r>
            <a:r>
              <a:rPr sz="1000" b="0">
                <a:solidFill>
                  <a:srgbClr val="FFFFFF"/>
                </a:solidFill>
                <a:latin typeface="Menlo"/>
              </a:rPr>
              <a:t>,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FFFF"/>
                </a:solidFill>
                <a:latin typeface="Menlo"/>
              </a:rPr>
              <a:t>  "occurred_at": </a:t>
            </a:r>
            <a:r>
              <a:rPr sz="1000" b="0">
                <a:solidFill>
                  <a:srgbClr val="F6E09E"/>
                </a:solidFill>
                <a:latin typeface="Menlo"/>
              </a:rPr>
              <a:t>"2026-10-18T12:00:00Z"</a:t>
            </a:r>
            <a:r>
              <a:rPr sz="1000" b="0">
                <a:solidFill>
                  <a:srgbClr val="FFFFFF"/>
                </a:solidFill>
                <a:latin typeface="Menlo"/>
              </a:rPr>
              <a:t>,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FFFF"/>
                </a:solidFill>
                <a:latin typeface="Menlo"/>
              </a:rPr>
              <a:t>  "correlation_id": </a:t>
            </a:r>
            <a:r>
              <a:rPr sz="1000" b="0">
                <a:solidFill>
                  <a:srgbClr val="F6E09E"/>
                </a:solidFill>
                <a:latin typeface="Menlo"/>
              </a:rPr>
              <a:t>"c4d2-..."</a:t>
            </a:r>
            <a:r>
              <a:rPr sz="1000" b="0">
                <a:solidFill>
                  <a:srgbClr val="FFFFFF"/>
                </a:solidFill>
                <a:latin typeface="Menlo"/>
              </a:rPr>
              <a:t>,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FFFF"/>
                </a:solidFill>
                <a:latin typeface="Menlo"/>
              </a:rPr>
              <a:t>  "payload": {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FFFF"/>
                </a:solidFill>
                <a:latin typeface="Menlo"/>
              </a:rPr>
              <a:t>    "order_id": </a:t>
            </a:r>
            <a:r>
              <a:rPr sz="1000" b="0">
                <a:solidFill>
                  <a:srgbClr val="F6E09E"/>
                </a:solidFill>
                <a:latin typeface="Menlo"/>
              </a:rPr>
              <a:t>"a7b3-..."</a:t>
            </a:r>
            <a:r>
              <a:rPr sz="1000" b="0">
                <a:solidFill>
                  <a:srgbClr val="FFFFFF"/>
                </a:solidFill>
                <a:latin typeface="Menlo"/>
              </a:rPr>
              <a:t>,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FFFF"/>
                </a:solidFill>
                <a:latin typeface="Menlo"/>
              </a:rPr>
              <a:t>    "requester_id": </a:t>
            </a:r>
            <a:r>
              <a:rPr sz="1000" b="0">
                <a:solidFill>
                  <a:srgbClr val="F6E09E"/>
                </a:solidFill>
                <a:latin typeface="Menlo"/>
              </a:rPr>
              <a:t>"alice-..."</a:t>
            </a:r>
            <a:r>
              <a:rPr sz="1000" b="0">
                <a:solidFill>
                  <a:srgbClr val="FFFFFF"/>
                </a:solidFill>
                <a:latin typeface="Menlo"/>
              </a:rPr>
              <a:t>,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FFFF"/>
                </a:solidFill>
                <a:latin typeface="Menlo"/>
              </a:rPr>
              <a:t>    "credit_amount": </a:t>
            </a:r>
            <a:r>
              <a:rPr sz="1000" b="0">
                <a:solidFill>
                  <a:srgbClr val="A9DDF7"/>
                </a:solidFill>
                <a:latin typeface="Menlo"/>
              </a:rPr>
              <a:t>8</a:t>
            </a:r>
            <a:r>
              <a:rPr sz="1000" b="0">
                <a:solidFill>
                  <a:srgbClr val="FFFFFF"/>
                </a:solidFill>
                <a:latin typeface="Menlo"/>
              </a:rPr>
              <a:t>,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FFFF"/>
                </a:solidFill>
                <a:latin typeface="Menlo"/>
              </a:rPr>
              <a:t>    "pickup_supplier_id": </a:t>
            </a:r>
            <a:r>
              <a:rPr sz="1000" b="0">
                <a:solidFill>
                  <a:srgbClr val="F6E09E"/>
                </a:solidFill>
                <a:latin typeface="Menlo"/>
              </a:rPr>
              <a:t>"b1e2-..."</a:t>
            </a:r>
            <a:r>
              <a:rPr sz="1000" b="0">
                <a:solidFill>
                  <a:srgbClr val="FFFFFF"/>
                </a:solidFill>
                <a:latin typeface="Menlo"/>
              </a:rPr>
              <a:t>,</a:t>
            </a:r>
            <a:r>
              <a:rPr sz="1000" b="1">
                <a:solidFill>
                  <a:srgbClr val="F2B134"/>
                </a:solidFill>
                <a:latin typeface="Menlo"/>
              </a:rPr>
              <a:t>  NEW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FFFF"/>
                </a:solidFill>
                <a:latin typeface="Menlo"/>
              </a:rPr>
              <a:t>    "delivery_label": </a:t>
            </a:r>
            <a:r>
              <a:rPr sz="1000" b="0">
                <a:solidFill>
                  <a:srgbClr val="F6E09E"/>
                </a:solidFill>
                <a:latin typeface="Menlo"/>
              </a:rPr>
              <a:t>"COM1 Level 2"</a:t>
            </a:r>
            <a:r>
              <a:rPr sz="1000" b="0">
                <a:solidFill>
                  <a:srgbClr val="FFFFFF"/>
                </a:solidFill>
                <a:latin typeface="Menlo"/>
              </a:rPr>
              <a:t>,</a:t>
            </a:r>
            <a:r>
              <a:rPr sz="1000" b="1">
                <a:solidFill>
                  <a:srgbClr val="F2B134"/>
                </a:solidFill>
                <a:latin typeface="Menlo"/>
              </a:rPr>
              <a:t>  NEW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FFFF"/>
                </a:solidFill>
                <a:latin typeface="Menlo"/>
              </a:rPr>
              <a:t>    "created_at": </a:t>
            </a:r>
            <a:r>
              <a:rPr sz="1000" b="0">
                <a:solidFill>
                  <a:srgbClr val="F6E09E"/>
                </a:solidFill>
                <a:latin typeface="Menlo"/>
              </a:rPr>
              <a:t>"…T12:00:00Z"</a:t>
            </a:r>
            <a:r>
              <a:rPr sz="1000" b="0">
                <a:solidFill>
                  <a:srgbClr val="FFFFFF"/>
                </a:solidFill>
                <a:latin typeface="Menlo"/>
              </a:rPr>
              <a:t>,</a:t>
            </a:r>
            <a:r>
              <a:rPr sz="1000" b="1">
                <a:solidFill>
                  <a:srgbClr val="F2B134"/>
                </a:solidFill>
                <a:latin typeface="Menlo"/>
              </a:rPr>
              <a:t>  NEW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FFFF"/>
                </a:solidFill>
                <a:latin typeface="Menlo"/>
              </a:rPr>
              <a:t>    "expires_at": </a:t>
            </a:r>
            <a:r>
              <a:rPr sz="1000" b="0">
                <a:solidFill>
                  <a:srgbClr val="F6E09E"/>
                </a:solidFill>
                <a:latin typeface="Menlo"/>
              </a:rPr>
              <a:t>"…T13:00:00Z"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FFFF"/>
                </a:solidFill>
                <a:latin typeface="Menlo"/>
              </a:rPr>
              <a:t>  }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FFFF"/>
                </a:solidFill>
                <a:latin typeface="Menlo"/>
              </a:rPr>
              <a:t>}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67912" y="3931920"/>
            <a:ext cx="265176" cy="0"/>
          </a:xfrm>
          <a:prstGeom prst="line">
            <a:avLst/>
          </a:prstGeom>
          <a:ln w="38100">
            <a:solidFill>
              <a:srgbClr val="1D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16952" y="3931920"/>
            <a:ext cx="265175" cy="0"/>
          </a:xfrm>
          <a:prstGeom prst="line">
            <a:avLst/>
          </a:prstGeom>
          <a:ln w="38100">
            <a:solidFill>
              <a:srgbClr val="1D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